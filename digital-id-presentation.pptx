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8C547"/>
                </a:solidFill>
              </a:defRPr>
            </a:pPr>
            <a:r>
              <a:t>How Many Digital IDs Per Citizen?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4ADE80"/>
                </a:solidFill>
              </a:defRPr>
            </a:pPr>
            <a:r>
              <a:t>Issuance Models by Jurisdiction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4114800" cy="2926080"/>
          </a:xfrm>
          <a:prstGeom prst="roundRect">
            <a:avLst/>
          </a:prstGeom>
          <a:solidFill>
            <a:srgbClr val="16213E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Single Issuer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E8C547"/>
                </a:solidFill>
              </a:defRPr>
            </a:pPr>
            <a: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69696"/>
                </a:solidFill>
              </a:defRPr>
            </a:pPr>
            <a:r>
              <a:t>Government issues ONE digital credential per person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DE80"/>
                </a:solidFill>
              </a:defRPr>
            </a:pPr>
            <a:r>
              <a:t>India, Brazil, Germany, US states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286000"/>
            <a:ext cx="4114800" cy="2926080"/>
          </a:xfrm>
          <a:prstGeom prst="roundRect">
            <a:avLst/>
          </a:prstGeom>
          <a:solidFill>
            <a:srgbClr val="16213E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5603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Cloud-Based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3200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E8C547"/>
                </a:solidFill>
              </a:defRPr>
            </a:pPr>
            <a: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114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69696"/>
                </a:solidFill>
              </a:defRPr>
            </a:pPr>
            <a:r>
              <a:t>Browser/app account, no physical credential issued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754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DE80"/>
                </a:solidFill>
              </a:defRPr>
            </a:pPr>
            <a:r>
              <a:t>Australia, Singapore, Kenya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2286000"/>
            <a:ext cx="4114800" cy="2926080"/>
          </a:xfrm>
          <a:prstGeom prst="roundRect">
            <a:avLst/>
          </a:prstGeom>
          <a:solidFill>
            <a:srgbClr val="16213E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25603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Multiple 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32004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E8C547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41148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69696"/>
                </a:solidFill>
              </a:defRPr>
            </a:pPr>
            <a:r>
              <a:t>Multiple issuers (banks, telcos) provide credentials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475488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ADE80"/>
                </a:solidFill>
              </a:defRPr>
            </a:pPr>
            <a:r>
              <a:t>Estonia, Sweden, Finland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669280"/>
            <a:ext cx="13716000" cy="1097280"/>
          </a:xfrm>
          <a:prstGeom prst="roundRect">
            <a:avLst/>
          </a:prstGeom>
          <a:solidFill>
            <a:srgbClr val="16213E"/>
          </a:solidFill>
          <a:ln>
            <a:solidFill>
              <a:srgbClr val="E8C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Key Insight: Most jurisdictions (67%) use a single issuer model where the government provides one digital identity per citizen.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E8C547"/>
                </a:solidFill>
              </a:defRPr>
            </a:pPr>
            <a:r>
              <a:t>Technology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4ADE80"/>
                </a:solidFill>
              </a:defRPr>
            </a:pPr>
            <a:r>
              <a:t>Underlying Credential Formats &amp;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ISO mDL (mobile DL)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2011680"/>
            <a:ext cx="8046720" cy="411480"/>
          </a:xfrm>
          <a:prstGeom prst="roundRect">
            <a:avLst/>
          </a:prstGeom>
          <a:solidFill>
            <a:srgbClr val="E8C547"/>
          </a:solidFill>
          <a:ln>
            <a:solidFill>
              <a:srgbClr val="E8C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19202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OIDC-style auth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2651760"/>
            <a:ext cx="7040879" cy="411480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59" y="25603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EUDI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3291840"/>
            <a:ext cx="3017520" cy="411480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93192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PKI-based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3931920"/>
            <a:ext cx="2011680" cy="411480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384048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720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Verifiable Credentials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4572000"/>
            <a:ext cx="1508760" cy="411480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2040" y="448056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PKI + Mobile 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5212080"/>
            <a:ext cx="1005840" cy="411480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512064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5216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Biometric Database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5852160"/>
            <a:ext cx="1005840" cy="411480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576072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400800"/>
            <a:ext cx="13716000" cy="1097280"/>
          </a:xfrm>
          <a:prstGeom prst="roundRect">
            <a:avLst/>
          </a:prstGeom>
          <a:solidFill>
            <a:srgbClr val="16213E"/>
          </a:solidFill>
          <a:ln>
            <a:solidFill>
              <a:srgbClr val="E8C5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Emerging Trend: ISO 18013-5 (mobile Driver License) is the most common format, especially in the US. EUDI Wallet adoption is accelerating in Europe with 2026 deadline.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